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"/>
    <p:sldId id="277" r:id="rId3"/>
    <p:sldId id="279" r:id="rId4"/>
    <p:sldId id="276" r:id="rId5"/>
    <p:sldId id="256" r:id="rId6"/>
    <p:sldId id="257" r:id="rId7"/>
    <p:sldId id="264" r:id="rId8"/>
    <p:sldId id="280" r:id="rId9"/>
    <p:sldId id="281" r:id="rId10"/>
    <p:sldId id="282" r:id="rId11"/>
    <p:sldId id="266" r:id="rId12"/>
    <p:sldId id="267" r:id="rId13"/>
    <p:sldId id="268" r:id="rId14"/>
    <p:sldId id="265" r:id="rId15"/>
    <p:sldId id="270" r:id="rId16"/>
    <p:sldId id="269" r:id="rId17"/>
    <p:sldId id="272" r:id="rId18"/>
    <p:sldId id="260" r:id="rId19"/>
    <p:sldId id="273" r:id="rId20"/>
    <p:sldId id="274" r:id="rId21"/>
    <p:sldId id="275" r:id="rId22"/>
    <p:sldId id="283" r:id="rId23"/>
    <p:sldId id="261" r:id="rId24"/>
    <p:sldId id="262" r:id="rId25"/>
    <p:sldId id="263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4" d="100"/>
          <a:sy n="74" d="100"/>
        </p:scale>
        <p:origin x="1040" y="-2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React Form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React, forms are used to take input from users, like text, numbers, or selections. They work just like HTML forms but are often controlled by React </a:t>
            </a:r>
            <a:r>
              <a:rPr lang="en-US" dirty="0" smtClean="0"/>
              <a:t>state</a:t>
            </a:r>
          </a:p>
          <a:p>
            <a:r>
              <a:rPr lang="en-US" dirty="0" smtClean="0"/>
              <a:t>In </a:t>
            </a:r>
            <a:r>
              <a:rPr lang="en-US" dirty="0"/>
              <a:t>standard HTML, form elements maintain their own value based on user input</a:t>
            </a:r>
            <a:r>
              <a:rPr lang="en-US" dirty="0" smtClean="0"/>
              <a:t>.</a:t>
            </a:r>
          </a:p>
          <a:p>
            <a:r>
              <a:rPr lang="en-US" dirty="0"/>
              <a:t>In React, the value of the form element is kept in the component's state property and updated only with the </a:t>
            </a:r>
            <a:r>
              <a:rPr lang="en-US" dirty="0" err="1"/>
              <a:t>setState</a:t>
            </a:r>
            <a:r>
              <a:rPr lang="en-US" dirty="0"/>
              <a:t>() function</a:t>
            </a:r>
            <a:r>
              <a:rPr lang="en-US" dirty="0" smtClean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5246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Form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function </a:t>
            </a:r>
            <a:r>
              <a:rPr lang="en-US" dirty="0" err="1"/>
              <a:t>MyForm</a:t>
            </a:r>
            <a:r>
              <a:rPr lang="en-US" dirty="0"/>
              <a:t>() {</a:t>
            </a:r>
          </a:p>
          <a:p>
            <a:pPr marL="400050" lvl="1" indent="0">
              <a:buNone/>
            </a:pPr>
            <a:r>
              <a:rPr lang="en-US" dirty="0"/>
              <a:t>  return (</a:t>
            </a:r>
          </a:p>
          <a:p>
            <a:pPr marL="400050" lvl="1" indent="0">
              <a:buNone/>
            </a:pPr>
            <a:r>
              <a:rPr lang="en-US" dirty="0"/>
              <a:t>    &lt;form&gt;</a:t>
            </a:r>
          </a:p>
          <a:p>
            <a:pPr marL="400050" lvl="1" indent="0">
              <a:buNone/>
            </a:pPr>
            <a:r>
              <a:rPr lang="en-US" dirty="0"/>
              <a:t>      &lt;label&gt;Enter your name:</a:t>
            </a:r>
          </a:p>
          <a:p>
            <a:pPr marL="400050" lvl="1" indent="0">
              <a:buNone/>
            </a:pPr>
            <a:r>
              <a:rPr lang="en-US" dirty="0"/>
              <a:t>        &lt;input type="text" /&gt;</a:t>
            </a:r>
          </a:p>
          <a:p>
            <a:pPr marL="400050" lvl="1" indent="0">
              <a:buNone/>
            </a:pPr>
            <a:r>
              <a:rPr lang="en-US" dirty="0"/>
              <a:t>      &lt;/label&gt;</a:t>
            </a:r>
          </a:p>
          <a:p>
            <a:pPr marL="400050" lvl="1" indent="0">
              <a:buNone/>
            </a:pPr>
            <a:r>
              <a:rPr lang="en-US" dirty="0"/>
              <a:t>    &lt;/form&gt;</a:t>
            </a:r>
          </a:p>
          <a:p>
            <a:pPr marL="400050" lvl="1" indent="0">
              <a:buNone/>
            </a:pPr>
            <a:r>
              <a:rPr lang="en-US" dirty="0"/>
              <a:t>  )</a:t>
            </a:r>
          </a:p>
          <a:p>
            <a:pPr marL="0" indent="0">
              <a:buNone/>
            </a:pPr>
            <a:r>
              <a:rPr lang="en-US" dirty="0" smtClean="0"/>
              <a:t>}</a:t>
            </a:r>
          </a:p>
          <a:p>
            <a:r>
              <a:rPr lang="en-US" dirty="0"/>
              <a:t>This will work as normal, the form will submit and the page will refresh</a:t>
            </a:r>
            <a:r>
              <a:rPr lang="en-US" dirty="0" smtClean="0"/>
              <a:t>.</a:t>
            </a:r>
            <a:r>
              <a:rPr lang="en-US" dirty="0"/>
              <a:t> But this is generally not what we want to happen in React.</a:t>
            </a:r>
          </a:p>
          <a:p>
            <a:r>
              <a:rPr lang="en-US" dirty="0"/>
              <a:t>We want to prevent this default behavior and let React control the form.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7349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HTML Forms vs. React Forms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9140"/>
            <a:ext cx="8229600" cy="488702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standard HTML, form elements maintain their own value based on user </a:t>
            </a:r>
            <a:r>
              <a:rPr lang="en-US" dirty="0" smtClean="0"/>
              <a:t>input</a:t>
            </a:r>
            <a:r>
              <a:rPr lang="en-US" dirty="0"/>
              <a:t> </a:t>
            </a:r>
            <a:r>
              <a:rPr lang="en-US" dirty="0" smtClean="0"/>
              <a:t>and </a:t>
            </a:r>
            <a:r>
              <a:rPr lang="en-US" dirty="0"/>
              <a:t>keeps track of its own value in the HTML DOM</a:t>
            </a:r>
            <a:endParaRPr lang="en-US" dirty="0"/>
          </a:p>
          <a:p>
            <a:r>
              <a:rPr lang="en-US" dirty="0"/>
              <a:t>In React, the value of the form element is kept in the component's state property and updated only with the </a:t>
            </a:r>
            <a:r>
              <a:rPr lang="en-US" dirty="0" err="1"/>
              <a:t>setState</a:t>
            </a:r>
            <a:r>
              <a:rPr lang="en-US" dirty="0"/>
              <a:t>() function</a:t>
            </a:r>
            <a:r>
              <a:rPr lang="en-US" dirty="0" smtClean="0"/>
              <a:t>.</a:t>
            </a:r>
          </a:p>
          <a:p>
            <a:r>
              <a:rPr lang="en-US" dirty="0"/>
              <a:t>In other words; React provides a way to manage form data through component state, leading to what are known as "controlled components."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1892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 and Manual Handling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363" y="1686415"/>
            <a:ext cx="7697274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75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State Management (React 19+)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Introduction </a:t>
            </a:r>
            <a:r>
              <a:rPr dirty="0"/>
              <a:t>to Actions</a:t>
            </a:r>
          </a:p>
          <a:p>
            <a:r>
              <a:rPr dirty="0" err="1"/>
              <a:t>useActionState</a:t>
            </a:r>
            <a:endParaRPr dirty="0"/>
          </a:p>
          <a:p>
            <a:r>
              <a:rPr dirty="0" err="1"/>
              <a:t>useFormStatus</a:t>
            </a:r>
            <a:endParaRPr dirty="0"/>
          </a:p>
          <a:p>
            <a:r>
              <a:rPr dirty="0" err="1" smtClean="0"/>
              <a:t>useOptimistic</a:t>
            </a:r>
            <a:endParaRPr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to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Server </a:t>
            </a:r>
            <a:r>
              <a:rPr dirty="0"/>
              <a:t>Actions for </a:t>
            </a:r>
            <a:r>
              <a:rPr dirty="0" err="1"/>
              <a:t>async</a:t>
            </a:r>
            <a:r>
              <a:rPr dirty="0"/>
              <a:t> mutations</a:t>
            </a:r>
          </a:p>
          <a:p>
            <a:r>
              <a:rPr dirty="0"/>
              <a:t>Used for forms, DB writes, API calls</a:t>
            </a:r>
          </a:p>
          <a:p>
            <a:r>
              <a:rPr dirty="0"/>
              <a:t>Removes need for </a:t>
            </a:r>
            <a:r>
              <a:rPr dirty="0" err="1"/>
              <a:t>useState</a:t>
            </a:r>
            <a:r>
              <a:rPr dirty="0"/>
              <a:t>/</a:t>
            </a:r>
            <a:r>
              <a:rPr dirty="0" err="1"/>
              <a:t>useEffect</a:t>
            </a:r>
            <a:r>
              <a:rPr dirty="0"/>
              <a:t> for forms</a:t>
            </a:r>
          </a:p>
          <a:p>
            <a:r>
              <a:rPr dirty="0"/>
              <a:t>Automatic </a:t>
            </a:r>
            <a:r>
              <a:rPr dirty="0" smtClean="0"/>
              <a:t>serialization </a:t>
            </a:r>
            <a:r>
              <a:rPr dirty="0"/>
              <a:t>&amp; Suspense </a:t>
            </a:r>
            <a:r>
              <a:rPr dirty="0" smtClean="0"/>
              <a:t>support</a:t>
            </a:r>
            <a:r>
              <a:rPr lang="en-US" dirty="0" smtClean="0"/>
              <a:t>(Modern Framework like Next JS </a:t>
            </a:r>
            <a:r>
              <a:rPr lang="en-US" dirty="0" err="1" smtClean="0"/>
              <a:t>etc</a:t>
            </a:r>
            <a:r>
              <a:rPr lang="en-US" dirty="0" smtClean="0"/>
              <a:t> which supports automatic serialization and suspense and React 18+)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Server Actions are a feature that deeply integrates with the server. To fully leverage them with ease, we need a framework that supports server-side capabilities out of the box</a:t>
            </a:r>
            <a:r>
              <a:rPr lang="en-US" dirty="0" smtClean="0"/>
              <a:t>.</a:t>
            </a:r>
          </a:p>
          <a:p>
            <a:r>
              <a:rPr lang="en-US" b="1" dirty="0"/>
              <a:t>Next.js</a:t>
            </a:r>
            <a:r>
              <a:rPr lang="en-US" dirty="0"/>
              <a:t> has first-class support for React Actions (often called Server Actions), making it the perfect environment to learn this powerful new feature.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1502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Automatic Serialization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Modern frameworks (like Next.js Server Components) automatically handle the serialization of data fetched on the </a:t>
            </a:r>
            <a:r>
              <a:rPr lang="en-US" dirty="0" smtClean="0"/>
              <a:t>server</a:t>
            </a:r>
          </a:p>
          <a:p>
            <a:r>
              <a:rPr lang="en-US" b="1" dirty="0"/>
              <a:t>What it does:</a:t>
            </a:r>
            <a:r>
              <a:rPr lang="en-US" dirty="0"/>
              <a:t> It serializes data from server components (server side) to client components (client side) seamlessly.</a:t>
            </a:r>
          </a:p>
          <a:p>
            <a:r>
              <a:rPr lang="en-US" b="1" dirty="0"/>
              <a:t>Benefits</a:t>
            </a:r>
            <a:r>
              <a:rPr lang="en-US" dirty="0"/>
              <a:t>: Reduces the need to manually create API endpoints for every data fetch and eliminates the need for manual </a:t>
            </a:r>
            <a:r>
              <a:rPr lang="en-US" dirty="0" err="1"/>
              <a:t>JSON.stringify</a:t>
            </a:r>
            <a:r>
              <a:rPr lang="en-US" dirty="0"/>
              <a:t> and </a:t>
            </a:r>
            <a:r>
              <a:rPr lang="en-US" dirty="0" err="1"/>
              <a:t>JSON.parse</a:t>
            </a:r>
            <a:r>
              <a:rPr lang="en-US" dirty="0"/>
              <a:t> operations in many cases</a:t>
            </a:r>
            <a:r>
              <a:rPr lang="en-US" dirty="0" smtClean="0"/>
              <a:t>.</a:t>
            </a:r>
          </a:p>
          <a:p>
            <a:r>
              <a:rPr lang="en-US" b="1" dirty="0"/>
              <a:t>Workflow</a:t>
            </a:r>
            <a:r>
              <a:rPr lang="en-US" dirty="0"/>
              <a:t>: Data fetched within an </a:t>
            </a:r>
            <a:r>
              <a:rPr lang="en-US" dirty="0" err="1"/>
              <a:t>async</a:t>
            </a:r>
            <a:r>
              <a:rPr lang="en-US" dirty="0"/>
              <a:t> server component is automatically serialized, allowing the component to be rendered progressively.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9985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Suspense </a:t>
            </a:r>
            <a:r>
              <a:rPr lang="en-US" dirty="0" smtClean="0"/>
              <a:t>for </a:t>
            </a:r>
            <a:r>
              <a:rPr lang="en-US" dirty="0"/>
              <a:t>Data Fetching 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React Suspense is a built-in feature designed to manage asynchronous operations, allowing developers to declaratively define loading states while waiting for data or components to </a:t>
            </a:r>
            <a:r>
              <a:rPr lang="en-US" dirty="0" smtClean="0"/>
              <a:t>load</a:t>
            </a:r>
          </a:p>
          <a:p>
            <a:r>
              <a:rPr lang="en-US" dirty="0"/>
              <a:t>Declarative Loading: Instead of managing </a:t>
            </a:r>
            <a:r>
              <a:rPr lang="en-US" dirty="0" err="1"/>
              <a:t>isLoading</a:t>
            </a:r>
            <a:r>
              <a:rPr lang="en-US" dirty="0"/>
              <a:t> </a:t>
            </a:r>
            <a:r>
              <a:rPr lang="en-US" dirty="0" err="1"/>
              <a:t>booleans</a:t>
            </a:r>
            <a:r>
              <a:rPr lang="en-US" dirty="0"/>
              <a:t>, you wrap asynchronous components in &lt;Suspense fallback={&lt;</a:t>
            </a:r>
            <a:r>
              <a:rPr lang="en-US" dirty="0" err="1"/>
              <a:t>LoadingSpinner</a:t>
            </a:r>
            <a:r>
              <a:rPr lang="en-US" dirty="0"/>
              <a:t> </a:t>
            </a:r>
            <a:r>
              <a:rPr lang="en-US" dirty="0" smtClean="0"/>
              <a:t>/&gt;}&gt;.</a:t>
            </a:r>
          </a:p>
          <a:p>
            <a:r>
              <a:rPr lang="en-US" dirty="0"/>
              <a:t>Streaming Content: When used with React Server Components, Suspense allows the server to stream HTML to the client in chunks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Progressive Rendering: The browser can render the shell of a page instantly and then populate parts of the UI as the data arrives, improving perceived performance.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0639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Automatic Serialization and Suspense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0" lvl="3" indent="0" algn="ctr">
              <a:buNone/>
            </a:pPr>
            <a:r>
              <a:rPr lang="en-IN" sz="2400" b="1" dirty="0"/>
              <a:t>How They Work </a:t>
            </a:r>
            <a:r>
              <a:rPr lang="en-IN" sz="2400" b="1" dirty="0" smtClean="0"/>
              <a:t>Together</a:t>
            </a:r>
          </a:p>
          <a:p>
            <a:pPr marL="1371600" lvl="3" indent="0" algn="ctr">
              <a:buNone/>
            </a:pPr>
            <a:endParaRPr lang="en-IN" sz="2400" b="1" dirty="0"/>
          </a:p>
          <a:p>
            <a:pPr marL="1371600" lvl="3" indent="0">
              <a:buNone/>
            </a:pPr>
            <a:r>
              <a:rPr lang="en-US" b="1" dirty="0" smtClean="0"/>
              <a:t>Request</a:t>
            </a:r>
            <a:r>
              <a:rPr lang="en-US" dirty="0"/>
              <a:t>: The server receives a request for a </a:t>
            </a:r>
            <a:r>
              <a:rPr lang="en-US" dirty="0" smtClean="0"/>
              <a:t>page</a:t>
            </a:r>
          </a:p>
          <a:p>
            <a:pPr marL="1371600" lvl="3" indent="0">
              <a:buNone/>
            </a:pPr>
            <a:r>
              <a:rPr lang="en-US" b="1" dirty="0"/>
              <a:t>Server Rendering (</a:t>
            </a:r>
            <a:r>
              <a:rPr lang="en-US" b="1" dirty="0" err="1"/>
              <a:t>Async</a:t>
            </a:r>
            <a:r>
              <a:rPr lang="en-US" b="1" dirty="0"/>
              <a:t>): </a:t>
            </a:r>
            <a:r>
              <a:rPr lang="en-US" dirty="0"/>
              <a:t>The server begins rendering, hitting a &lt;Suspense&gt; boundary</a:t>
            </a:r>
            <a:r>
              <a:rPr lang="en-US" dirty="0" smtClean="0"/>
              <a:t>.</a:t>
            </a:r>
          </a:p>
          <a:p>
            <a:pPr marL="1371600" lvl="3" indent="0">
              <a:buNone/>
            </a:pPr>
            <a:r>
              <a:rPr lang="en-US" b="1" dirty="0"/>
              <a:t>Streaming:</a:t>
            </a:r>
            <a:r>
              <a:rPr lang="en-US" dirty="0"/>
              <a:t> The server sends the initial HTML immediately (without waiting for the data inside the Suspense boundary).</a:t>
            </a:r>
          </a:p>
          <a:p>
            <a:pPr marL="1371600" lvl="3" indent="0">
              <a:buNone/>
            </a:pPr>
            <a:r>
              <a:rPr lang="en-US" b="1" dirty="0"/>
              <a:t>Automatic Serialization:</a:t>
            </a:r>
            <a:r>
              <a:rPr lang="en-US" dirty="0"/>
              <a:t> As soon as the </a:t>
            </a:r>
            <a:r>
              <a:rPr lang="en-US" dirty="0" err="1"/>
              <a:t>async</a:t>
            </a:r>
            <a:r>
              <a:rPr lang="en-US" dirty="0"/>
              <a:t> data inside the boundary is ready, it is serialized and sent to the client.</a:t>
            </a:r>
          </a:p>
          <a:p>
            <a:pPr marL="1371600" lvl="3" indent="0">
              <a:buNone/>
            </a:pPr>
            <a:r>
              <a:rPr lang="en-US" b="1" dirty="0"/>
              <a:t>Rehydration</a:t>
            </a:r>
            <a:r>
              <a:rPr lang="en-US" dirty="0"/>
              <a:t>: The client replaces the fallback UI with the actual content, often without requiring a full page re-render.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8104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Are Actions?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Save data</a:t>
            </a:r>
          </a:p>
          <a:p>
            <a:r>
              <a:rPr lang="en-US" dirty="0"/>
              <a:t>Validate form input</a:t>
            </a:r>
          </a:p>
          <a:p>
            <a:r>
              <a:rPr lang="en-US" dirty="0"/>
              <a:t>Update the database</a:t>
            </a:r>
          </a:p>
          <a:p>
            <a:r>
              <a:rPr lang="en-US" dirty="0"/>
              <a:t>Authenticate a user</a:t>
            </a:r>
          </a:p>
          <a:p>
            <a:r>
              <a:rPr lang="en-US" dirty="0"/>
              <a:t>Send an email</a:t>
            </a:r>
          </a:p>
          <a:p>
            <a:r>
              <a:rPr lang="en-US" dirty="0"/>
              <a:t>Perform any server-side </a:t>
            </a:r>
            <a:r>
              <a:rPr lang="en-US" dirty="0" smtClean="0"/>
              <a:t>logic</a:t>
            </a:r>
          </a:p>
          <a:p>
            <a:pPr marL="0" indent="0">
              <a:buNone/>
            </a:pPr>
            <a:r>
              <a:rPr lang="en-US" dirty="0"/>
              <a:t>React lets your UI call these Actions directly, without manually wiring up complicated API requests or old form handlers.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7613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React 19 Introduced Actions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Before Actions, React developers had to manage forms manually</a:t>
            </a:r>
            <a:r>
              <a:rPr lang="en-US" dirty="0" smtClean="0"/>
              <a:t>:</a:t>
            </a:r>
          </a:p>
          <a:p>
            <a:r>
              <a:rPr lang="en-US" dirty="0" smtClean="0"/>
              <a:t>Now </a:t>
            </a:r>
            <a:r>
              <a:rPr lang="en-IN" b="1" dirty="0"/>
              <a:t>Actions solve these </a:t>
            </a:r>
            <a:r>
              <a:rPr lang="en-IN" b="1" dirty="0" smtClean="0"/>
              <a:t>problems like</a:t>
            </a:r>
          </a:p>
          <a:p>
            <a:r>
              <a:rPr lang="en-US" dirty="0"/>
              <a:t>No need for </a:t>
            </a:r>
            <a:r>
              <a:rPr lang="en-US" dirty="0" err="1"/>
              <a:t>onSubmit</a:t>
            </a:r>
            <a:endParaRPr lang="en-US" dirty="0"/>
          </a:p>
          <a:p>
            <a:r>
              <a:rPr lang="en-US" dirty="0"/>
              <a:t>No need for APIs for many cases</a:t>
            </a:r>
          </a:p>
          <a:p>
            <a:r>
              <a:rPr lang="en-US" dirty="0"/>
              <a:t>No need for manual loading logic</a:t>
            </a:r>
          </a:p>
          <a:p>
            <a:r>
              <a:rPr lang="en-US" dirty="0"/>
              <a:t>No need for manual state syncing</a:t>
            </a:r>
            <a:endParaRPr lang="en-IN" dirty="0"/>
          </a:p>
          <a:p>
            <a:r>
              <a:rPr lang="en-US" dirty="0"/>
              <a:t>React now handles the entire lifecycle for you.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2084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Diagram </a:t>
            </a:r>
            <a:endParaRPr lang="en-IN" dirty="0"/>
          </a:p>
        </p:txBody>
      </p:sp>
      <p:pic>
        <p:nvPicPr>
          <p:cNvPr id="2050" name="Picture 2" descr="https://codewithharry.nyc3.cdn.digitaloceanspaces.com/dashboard/tutorial/introduction-to-actions/1771385789597-baActions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476" y="1600200"/>
            <a:ext cx="6493048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4540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Setting up Next.js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npx</a:t>
            </a:r>
            <a:r>
              <a:rPr lang="en-IN" dirty="0"/>
              <a:t> </a:t>
            </a:r>
            <a:r>
              <a:rPr lang="en-IN" dirty="0" err="1"/>
              <a:t>create-next-app@latest</a:t>
            </a:r>
            <a:r>
              <a:rPr lang="en-IN" dirty="0"/>
              <a:t> </a:t>
            </a:r>
            <a:r>
              <a:rPr lang="en-IN" dirty="0" smtClean="0"/>
              <a:t>day-4-training</a:t>
            </a:r>
          </a:p>
          <a:p>
            <a:r>
              <a:rPr lang="en-US" dirty="0" smtClean="0"/>
              <a:t>Select default during installation prompts</a:t>
            </a:r>
          </a:p>
          <a:p>
            <a:r>
              <a:rPr lang="en-US" dirty="0"/>
              <a:t>cd </a:t>
            </a:r>
            <a:r>
              <a:rPr lang="en-IN" dirty="0"/>
              <a:t>day-4-training</a:t>
            </a:r>
          </a:p>
          <a:p>
            <a:r>
              <a:rPr lang="en-US" dirty="0" err="1" smtClean="0"/>
              <a:t>npm</a:t>
            </a:r>
            <a:r>
              <a:rPr lang="en-US" dirty="0" smtClean="0"/>
              <a:t> </a:t>
            </a:r>
            <a:r>
              <a:rPr lang="en-US" dirty="0"/>
              <a:t>run </a:t>
            </a:r>
            <a:r>
              <a:rPr lang="en-US" dirty="0" err="1" smtClean="0"/>
              <a:t>dev</a:t>
            </a:r>
            <a:endParaRPr lang="en-US" dirty="0" smtClean="0"/>
          </a:p>
          <a:p>
            <a:r>
              <a:rPr lang="en-US" dirty="0" smtClean="0"/>
              <a:t>Now you can get a running </a:t>
            </a:r>
            <a:r>
              <a:rPr lang="en-US" dirty="0"/>
              <a:t>server-capable React environment ready for Actions!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7523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Managing Forms with </a:t>
            </a:r>
            <a:r>
              <a:rPr lang="en-IN" b="1" dirty="0" err="1"/>
              <a:t>useActionState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we will learn how to build modern, server-powered forms using </a:t>
            </a:r>
            <a:r>
              <a:rPr lang="en-US" dirty="0" err="1"/>
              <a:t>useActionState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hook replaces old form-handling patterns like </a:t>
            </a:r>
            <a:r>
              <a:rPr lang="en-US" dirty="0" err="1"/>
              <a:t>onSubmit</a:t>
            </a:r>
            <a:r>
              <a:rPr lang="en-US" dirty="0"/>
              <a:t>, manual fetch requests, and custom loading states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				</a:t>
            </a:r>
            <a:r>
              <a:rPr lang="en-US" b="1" dirty="0" smtClean="0"/>
              <a:t>With </a:t>
            </a:r>
            <a:r>
              <a:rPr lang="en-US" b="1" dirty="0" err="1"/>
              <a:t>useActionState</a:t>
            </a:r>
            <a:r>
              <a:rPr lang="en-US" b="1" dirty="0"/>
              <a:t>:</a:t>
            </a:r>
          </a:p>
          <a:p>
            <a:r>
              <a:rPr lang="en-US" dirty="0"/>
              <a:t>S</a:t>
            </a:r>
            <a:r>
              <a:rPr lang="en-US" dirty="0" smtClean="0"/>
              <a:t>ends </a:t>
            </a:r>
            <a:r>
              <a:rPr lang="en-US" dirty="0"/>
              <a:t>the form data to a Server Action for you</a:t>
            </a:r>
          </a:p>
          <a:p>
            <a:r>
              <a:rPr lang="en-US" dirty="0"/>
              <a:t>It stores the server’s response automatically</a:t>
            </a:r>
          </a:p>
          <a:p>
            <a:r>
              <a:rPr lang="en-US" dirty="0"/>
              <a:t>It re-renders your component when the Action finishes</a:t>
            </a:r>
          </a:p>
          <a:p>
            <a:r>
              <a:rPr lang="en-US" dirty="0"/>
              <a:t>No custom handlers </a:t>
            </a:r>
            <a:r>
              <a:rPr lang="en-US" dirty="0" smtClean="0"/>
              <a:t>needed</a:t>
            </a:r>
            <a:endParaRPr lang="en-US" dirty="0"/>
          </a:p>
          <a:p>
            <a:r>
              <a:rPr lang="en-US" dirty="0" err="1"/>
              <a:t>useActionState</a:t>
            </a:r>
            <a:r>
              <a:rPr lang="en-US" dirty="0"/>
              <a:t> always works together with a Server Action.</a:t>
            </a:r>
            <a:endParaRPr lang="en-US" dirty="0" smtClean="0"/>
          </a:p>
          <a:p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3598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106" y="126460"/>
            <a:ext cx="8297694" cy="975509"/>
          </a:xfrm>
        </p:spPr>
        <p:txBody>
          <a:bodyPr>
            <a:normAutofit fontScale="90000"/>
          </a:bodyPr>
          <a:lstStyle/>
          <a:p>
            <a:r>
              <a:rPr lang="en-IN" sz="3600" b="1" dirty="0" smtClean="0"/>
              <a:t>What it does</a:t>
            </a:r>
            <a:r>
              <a:rPr lang="en-IN" sz="3600" b="1" dirty="0"/>
              <a:t/>
            </a:r>
            <a:br>
              <a:rPr lang="en-IN" sz="3600" b="1" dirty="0"/>
            </a:b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15" y="857739"/>
            <a:ext cx="8229600" cy="4525963"/>
          </a:xfrm>
        </p:spPr>
        <p:txBody>
          <a:bodyPr/>
          <a:lstStyle/>
          <a:p>
            <a:r>
              <a:rPr lang="en-US" dirty="0"/>
              <a:t>This Action:</a:t>
            </a:r>
          </a:p>
          <a:p>
            <a:pPr marL="0" indent="0">
              <a:buNone/>
            </a:pPr>
            <a:r>
              <a:rPr lang="en-US" dirty="0" smtClean="0"/>
              <a:t>	Runs </a:t>
            </a:r>
            <a:r>
              <a:rPr lang="en-US" dirty="0"/>
              <a:t>on the server</a:t>
            </a:r>
          </a:p>
          <a:p>
            <a:pPr marL="0" indent="0">
              <a:buNone/>
            </a:pPr>
            <a:r>
              <a:rPr lang="en-US" dirty="0" smtClean="0"/>
              <a:t>	Receives </a:t>
            </a:r>
            <a:r>
              <a:rPr lang="en-US" dirty="0"/>
              <a:t>form data</a:t>
            </a:r>
          </a:p>
          <a:p>
            <a:pPr marL="0" indent="0">
              <a:buNone/>
            </a:pPr>
            <a:r>
              <a:rPr lang="en-US" dirty="0" smtClean="0"/>
              <a:t>	Returns </a:t>
            </a:r>
            <a:r>
              <a:rPr lang="en-US" dirty="0"/>
              <a:t>a new state object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useActionState</a:t>
            </a:r>
            <a:r>
              <a:rPr lang="en-US" dirty="0" smtClean="0"/>
              <a:t> </a:t>
            </a:r>
            <a:r>
              <a:rPr lang="en-US" dirty="0"/>
              <a:t>will store that object in the UI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Note: </a:t>
            </a:r>
            <a:r>
              <a:rPr lang="en-US" dirty="0" err="1"/>
              <a:t>useActionState</a:t>
            </a:r>
            <a:r>
              <a:rPr lang="en-US" dirty="0"/>
              <a:t> is a hook, this component must be a Client Component. That is why we add "use client" at the top </a:t>
            </a:r>
            <a:r>
              <a:rPr lang="en-US" dirty="0" smtClean="0"/>
              <a:t>of page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9666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useActionState</a:t>
            </a:r>
            <a:r>
              <a:rPr lang="en-US" dirty="0" smtClean="0"/>
              <a:t> Lifecycle</a:t>
            </a:r>
            <a:endParaRPr lang="en-IN" dirty="0"/>
          </a:p>
        </p:txBody>
      </p:sp>
      <p:pic>
        <p:nvPicPr>
          <p:cNvPr id="5122" name="Picture 2" descr="https://codewithharry.nyc3.cdn.digitaloceanspaces.com/dashboard/tutorial/managing-forms-with-useactionstate/1771388324736-useActionStatelifecycle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898" y="1600200"/>
            <a:ext cx="3070203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1022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smtClean="0"/>
              <a:t>useFormStatus</a:t>
            </a:r>
            <a:r>
              <a:rPr lang="en-US" dirty="0" smtClean="0"/>
              <a:t>-Client Component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dirty="0" smtClean="0"/>
              <a:t>elps </a:t>
            </a:r>
            <a:r>
              <a:rPr lang="en-US" dirty="0"/>
              <a:t>you manage loading states inside deeply nested components. This pattern is essential when building real-world forms where submit buttons, inputs, and status messages live in different parts of the UI.</a:t>
            </a:r>
            <a:endParaRPr dirty="0"/>
          </a:p>
          <a:p>
            <a:r>
              <a:rPr dirty="0"/>
              <a:t>Detects nested form loading state</a:t>
            </a:r>
          </a:p>
          <a:p>
            <a:r>
              <a:rPr dirty="0"/>
              <a:t>Useful for </a:t>
            </a:r>
            <a:r>
              <a:rPr dirty="0" err="1"/>
              <a:t>SubmitButton</a:t>
            </a:r>
            <a:r>
              <a:rPr dirty="0"/>
              <a:t> components</a:t>
            </a:r>
          </a:p>
          <a:p>
            <a:r>
              <a:rPr dirty="0"/>
              <a:t>pending state </a:t>
            </a:r>
            <a:r>
              <a:rPr dirty="0" smtClean="0"/>
              <a:t>auto-updated</a:t>
            </a:r>
            <a:endParaRPr lang="en-US" dirty="0" smtClean="0"/>
          </a:p>
          <a:p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Nested Forms with </a:t>
            </a:r>
            <a:r>
              <a:rPr lang="en-IN" dirty="0" err="1"/>
              <a:t>useFormStatus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 </a:t>
            </a:r>
            <a:r>
              <a:rPr lang="en-US" b="1" dirty="0"/>
              <a:t>nested form</a:t>
            </a:r>
            <a:r>
              <a:rPr lang="en-US" dirty="0"/>
              <a:t> is simply a form </a:t>
            </a:r>
            <a:r>
              <a:rPr lang="en-US" dirty="0" smtClean="0"/>
              <a:t>where: inputs, submit buttons, messages</a:t>
            </a:r>
            <a:r>
              <a:rPr lang="en-US" dirty="0"/>
              <a:t> </a:t>
            </a:r>
            <a:r>
              <a:rPr lang="en-US" dirty="0" smtClean="0"/>
              <a:t>are </a:t>
            </a:r>
            <a:r>
              <a:rPr lang="en-US" dirty="0"/>
              <a:t>located in different parts of the component tree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Structure</a:t>
            </a:r>
          </a:p>
          <a:p>
            <a:pPr marL="0" indent="0">
              <a:buNone/>
            </a:pPr>
            <a:r>
              <a:rPr lang="en-US" dirty="0"/>
              <a:t>Form</a:t>
            </a:r>
          </a:p>
          <a:p>
            <a:pPr marL="0" indent="0">
              <a:buNone/>
            </a:pPr>
            <a:r>
              <a:rPr lang="en-US" dirty="0"/>
              <a:t> ├── </a:t>
            </a:r>
            <a:r>
              <a:rPr lang="en-US" dirty="0" err="1"/>
              <a:t>InputSection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├── </a:t>
            </a:r>
            <a:r>
              <a:rPr lang="en-US" dirty="0" err="1" smtClean="0"/>
              <a:t>MessageSection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└── Footer</a:t>
            </a:r>
          </a:p>
          <a:p>
            <a:pPr marL="0" indent="0">
              <a:buNone/>
            </a:pPr>
            <a:r>
              <a:rPr lang="en-US" dirty="0"/>
              <a:t>       └── </a:t>
            </a:r>
            <a:r>
              <a:rPr lang="en-US" dirty="0" err="1"/>
              <a:t>SubmitButton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2178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submit button is </a:t>
            </a:r>
            <a:r>
              <a:rPr lang="en-US" b="1" dirty="0"/>
              <a:t>not</a:t>
            </a:r>
            <a:r>
              <a:rPr lang="en-US" dirty="0"/>
              <a:t> directly next to the form tag. It </a:t>
            </a:r>
            <a:r>
              <a:rPr lang="en-US" dirty="0" smtClean="0"/>
              <a:t>may be </a:t>
            </a:r>
            <a:r>
              <a:rPr lang="en-US" dirty="0"/>
              <a:t>several components deep</a:t>
            </a:r>
            <a:r>
              <a:rPr lang="en-US" dirty="0" smtClean="0"/>
              <a:t>.</a:t>
            </a:r>
          </a:p>
          <a:p>
            <a:r>
              <a:rPr lang="en-US" dirty="0"/>
              <a:t>React 19 makes this easy by allowing nested components to access the form’s submission state using </a:t>
            </a:r>
            <a:r>
              <a:rPr lang="en-US" dirty="0" err="1"/>
              <a:t>useFormStatus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useFormStatus</a:t>
            </a:r>
            <a:r>
              <a:rPr lang="en-US" dirty="0"/>
              <a:t>() works inside any descendant of the form, even several levels deep.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60737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use </a:t>
            </a:r>
            <a:r>
              <a:rPr lang="en-US" dirty="0" err="1"/>
              <a:t>useFormStatus</a:t>
            </a:r>
            <a:r>
              <a:rPr lang="en-US" dirty="0"/>
              <a:t>, the component must be rendered inside a form. Also, because it uses a </a:t>
            </a:r>
            <a:r>
              <a:rPr lang="en-US" dirty="0" smtClean="0"/>
              <a:t>hook and </a:t>
            </a:r>
            <a:r>
              <a:rPr lang="en-US" dirty="0" err="1" smtClean="0"/>
              <a:t>SubmitButton</a:t>
            </a:r>
            <a:r>
              <a:rPr lang="en-US" dirty="0" smtClean="0"/>
              <a:t> </a:t>
            </a:r>
            <a:r>
              <a:rPr lang="en-US" dirty="0"/>
              <a:t>must be a Client Component ("use client</a:t>
            </a:r>
            <a:r>
              <a:rPr lang="en-US" dirty="0" smtClean="0"/>
              <a:t>").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0007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Differences: </a:t>
            </a:r>
            <a:r>
              <a:rPr lang="en-US" dirty="0" err="1"/>
              <a:t>useActionState</a:t>
            </a:r>
            <a:r>
              <a:rPr lang="en-US" dirty="0"/>
              <a:t> </a:t>
            </a:r>
            <a:r>
              <a:rPr lang="en-US" dirty="0" err="1"/>
              <a:t>vs</a:t>
            </a:r>
            <a:r>
              <a:rPr lang="en-US" dirty="0"/>
              <a:t> </a:t>
            </a:r>
            <a:r>
              <a:rPr lang="en-US" dirty="0" err="1"/>
              <a:t>useFormStatus</a:t>
            </a:r>
            <a:endParaRPr lang="en-IN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7395504"/>
              </p:ext>
            </p:extLst>
          </p:nvPr>
        </p:nvGraphicFramePr>
        <p:xfrm>
          <a:off x="457200" y="1600200"/>
          <a:ext cx="8229600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Feature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useActionState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useFormStatus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Where to call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the same component as the </a:t>
                      </a:r>
                      <a:r>
                        <a:rPr lang="en-US" dirty="0" smtClean="0"/>
                        <a:t>&lt;form&gt;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a </a:t>
                      </a: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child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component of the </a:t>
                      </a:r>
                      <a:r>
                        <a:rPr lang="en-US" dirty="0" smtClean="0"/>
                        <a:t>&lt;form&gt;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 Purpose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get the </a:t>
                      </a: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result/data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back from the server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 get the </a:t>
                      </a: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loading status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of the form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Arguments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Takes an action and initial state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Takes no arguments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285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useOptimistic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smtClean="0"/>
              <a:t>Instant </a:t>
            </a:r>
            <a:r>
              <a:rPr dirty="0"/>
              <a:t>UI updates before server confirmation</a:t>
            </a:r>
          </a:p>
          <a:p>
            <a:r>
              <a:rPr dirty="0"/>
              <a:t>Automatic rollback on failure</a:t>
            </a:r>
          </a:p>
          <a:p>
            <a:r>
              <a:rPr dirty="0"/>
              <a:t>Great for comments, likes, </a:t>
            </a:r>
            <a:r>
              <a:rPr dirty="0" smtClean="0"/>
              <a:t>lists</a:t>
            </a:r>
            <a:endParaRPr lang="en-US" dirty="0" smtClean="0"/>
          </a:p>
          <a:p>
            <a:r>
              <a:rPr lang="en-US" dirty="0"/>
              <a:t>Handles optimistic updates safely</a:t>
            </a:r>
          </a:p>
          <a:p>
            <a:r>
              <a:rPr lang="en-US" dirty="0"/>
              <a:t>Works directly with Actions</a:t>
            </a:r>
          </a:p>
          <a:p>
            <a:r>
              <a:rPr lang="en-US" dirty="0"/>
              <a:t>Integrates with server transitions</a:t>
            </a:r>
          </a:p>
          <a:p>
            <a:r>
              <a:rPr lang="en-US" dirty="0"/>
              <a:t>Keeps code clean and declarative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Project: Smart Feedback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Feedback form with rating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sz="2400" dirty="0" smtClean="0"/>
              <a:t>Step </a:t>
            </a:r>
            <a:r>
              <a:rPr lang="en-US" sz="2400" dirty="0"/>
              <a:t>1: Create the Server Action</a:t>
            </a:r>
            <a:endParaRPr lang="en-US" dirty="0"/>
          </a:p>
          <a:p>
            <a:pPr marL="400050" lvl="1" indent="0">
              <a:buNone/>
            </a:pPr>
            <a:r>
              <a:rPr lang="en-US" sz="2400" dirty="0" smtClean="0"/>
              <a:t> Step </a:t>
            </a:r>
            <a:r>
              <a:rPr lang="en-US" sz="2400" dirty="0"/>
              <a:t>2: Build the Feedback Page with Action </a:t>
            </a:r>
            <a:r>
              <a:rPr lang="en-IN" sz="2400" dirty="0"/>
              <a:t>and Optimistic </a:t>
            </a:r>
            <a:r>
              <a:rPr lang="en-IN" sz="2400" dirty="0" smtClean="0"/>
              <a:t> State</a:t>
            </a:r>
            <a:endParaRPr lang="en-IN" sz="2400" dirty="0"/>
          </a:p>
          <a:p>
            <a:pPr marL="400050" lvl="1" indent="0">
              <a:buNone/>
            </a:pPr>
            <a:endParaRPr lang="en-US" sz="2400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actions/</a:t>
            </a:r>
            <a:r>
              <a:rPr dirty="0" err="1"/>
              <a:t>feedback.ts</a:t>
            </a:r>
            <a:endParaRPr dirty="0"/>
          </a:p>
          <a:p>
            <a:r>
              <a:rPr dirty="0"/>
              <a:t>components/</a:t>
            </a:r>
            <a:r>
              <a:rPr dirty="0" err="1"/>
              <a:t>FeedbackForm.tsx</a:t>
            </a:r>
            <a:endParaRPr dirty="0"/>
          </a:p>
          <a:p>
            <a:r>
              <a:rPr dirty="0"/>
              <a:t>components/</a:t>
            </a:r>
            <a:r>
              <a:rPr dirty="0" err="1"/>
              <a:t>FeedbackList.tsx</a:t>
            </a:r>
            <a:endParaRPr dirty="0"/>
          </a:p>
          <a:p>
            <a:r>
              <a:rPr dirty="0" err="1" smtClean="0"/>
              <a:t>App.tsx</a:t>
            </a:r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859</TotalTime>
  <Words>847</Words>
  <Application>Microsoft Office PowerPoint</Application>
  <PresentationFormat>On-screen Show (4:3)</PresentationFormat>
  <Paragraphs>143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React Form</vt:lpstr>
      <vt:lpstr>HTML Form</vt:lpstr>
      <vt:lpstr>HTML Forms vs. React Forms </vt:lpstr>
      <vt:lpstr>Form and Manual Handling</vt:lpstr>
      <vt:lpstr>State Management (React 19+)</vt:lpstr>
      <vt:lpstr>Introduction to Actions</vt:lpstr>
      <vt:lpstr>Cont..</vt:lpstr>
      <vt:lpstr>Automatic Serialization</vt:lpstr>
      <vt:lpstr>Suspense for Data Fetching </vt:lpstr>
      <vt:lpstr>Automatic Serialization and Suspense</vt:lpstr>
      <vt:lpstr>What Are Actions? </vt:lpstr>
      <vt:lpstr>Why React 19 Introduced Actions </vt:lpstr>
      <vt:lpstr>Diagram </vt:lpstr>
      <vt:lpstr>Setting up Next.js </vt:lpstr>
      <vt:lpstr>Managing Forms with useActionState </vt:lpstr>
      <vt:lpstr>What it does </vt:lpstr>
      <vt:lpstr>useActionState Lifecycle</vt:lpstr>
      <vt:lpstr>useFormStatus-Client Component</vt:lpstr>
      <vt:lpstr>Nested Forms with useFormStatus </vt:lpstr>
      <vt:lpstr>Cont…</vt:lpstr>
      <vt:lpstr>Cont..</vt:lpstr>
      <vt:lpstr>Key Differences: useActionState vs useFormStatus</vt:lpstr>
      <vt:lpstr>useOptimistic</vt:lpstr>
      <vt:lpstr>Mini Project: Smart Feedback App</vt:lpstr>
      <vt:lpstr>Project Structure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Management (React 19+)</dc:title>
  <dc:subject/>
  <dc:creator/>
  <cp:keywords/>
  <dc:description>generated using python-pptx</dc:description>
  <cp:lastModifiedBy>Sumanta Kanungo</cp:lastModifiedBy>
  <cp:revision>32</cp:revision>
  <dcterms:created xsi:type="dcterms:W3CDTF">2013-01-27T09:14:16Z</dcterms:created>
  <dcterms:modified xsi:type="dcterms:W3CDTF">2026-04-02T13:22:09Z</dcterms:modified>
  <cp:category/>
</cp:coreProperties>
</file>